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Kellen Murerwa. My capstone builds a geospatial machine-learning system that estimates daily flood-pressure for a flood-prone corridor in Kigali, using only open climate and map data. In the next 10 minutes I'll cover the ML gap, my solution, where I am now, and a working prototype. (~30s)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Kigali's flood tools are static hazard maps. They're authoritative but cover only ~19% of my corridor and never change — so they can't tell you where pressure is building after a storm. ML studies exist, but they rarely pair geospatial ML with a temporal model, rarely stick to open data for an African city, and rarely ship something usable. That intersection is my gap.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gap in one picture. On the left is the official hazard map — a fixed blue zone, ~19% of the area, identical every day of the year. On the right is my model on a wet day: it still concentrates risk in and around the official zone, but it flags a much wider rainfall-driven footprint the static map simply can't show. Same place, but a time-aware view. (~1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solution: lay a 250 m grid over the corridor — 729 cells, one row per cell per day, seven years, 1.86 million rows. I fuse four open, keyless sources into ten features: rainfall accumulations from Open-Meteo ERA5, terrain from SRTM, exposure — rivers, roads, buildings — from OpenStreetMap, and official flood-zone membership from the Rwanda GeoPortal. I predict Low/Moderate/High pressure, benchmark Random Forest and XGBoost against rule and static-map baselines, add an HMM temporal layer, and — crucially — test on an unseen year, 2024. The chart shows rainfall features dominate, which is hydrologically sensible. (~2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the build is essentially done. The data pipeline is complete and reproducible. Models are trained and tested on 2024 — and the proposal targets are met: XGBoost — my deployed model — hits 0.81 macro-F1 and 0.84 high-recall, beating the rainfall rule by 0.19 F1 and the static map by 0.49, and train, validation and test scores match so it isn't over-fitting. Spatial validation passes both targets — 1.6x enrichment and 1.85x odds inside the official zones. The HMM is integrated as an explanatory layer. And there's a working dashboard, a full passing test suite, sub-10-millisecond queries, and a clean repo with deployment ready. (~1.5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prototype — a Streamlit dashboard. You pick any date and see the predicted Low/Moderate/High map over all 729 cells. You can overlay the official polygons, click any cell to see its features and the model's class probabilities, and view rainfall trends and the HMM panel. It boots cleanly and answers a query in under 10 milliseconds, so it's genuinely interactive. (~1.5 min — demo live here if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it's tested, not just demoed. Left: the confusion matrix on the 2024 hold-out — errors sit on neighbouring states, not wild misses. Middle: a functional test showing predictions shift correctly as I change the inputs — dry high ground stays Low, heavy rain on low ground goes High. Right: a performance benchmark — latency stays well under the 2-second budget even on a single thread. Ten of ten automated tests pass.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I've shown the thesis holds — open climate and geospatial data plus ensemble ML give a time-aware flood view that beats static maps and rule baselines, end-to-end and reproducible. Next, I'll ground-truth against real flood-incident records, calibrate the probabilities and feed forecast rainfall for a forward-looking outlook, and finalise hosting. Thank you — happy to take questions. (~1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635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2194560"/>
          </a:xfrm>
          <a:prstGeom prst="rect">
            <a:avLst/>
          </a:prstGeom>
          <a:noFill/>
        </p:spPr>
        <p:txBody>
          <a:bodyPr wrap="square" anchor="t">
            <a:spAutoFit/>
          </a:bodyPr>
          <a:lstStyle/>
          <a:p>
            <a:pPr algn="l">
              <a:spcAft>
                <a:spcPts val="600"/>
              </a:spcAft>
            </a:pPr>
            <a:r>
              <a:rPr sz="3600" b="1">
                <a:solidFill>
                  <a:srgbClr val="FFFFFF"/>
                </a:solidFill>
                <a:latin typeface="Calibri"/>
              </a:rPr>
              <a:t>Geospatial Flood-Risk Modelling using Climate Data</a:t>
            </a:r>
          </a:p>
          <a:p>
            <a:pPr algn="l">
              <a:spcAft>
                <a:spcPts val="600"/>
              </a:spcAft>
            </a:pPr>
            <a:r>
              <a:rPr sz="3600" b="1">
                <a:solidFill>
                  <a:srgbClr val="FFFFFF"/>
                </a:solidFill>
                <a:latin typeface="Calibri"/>
              </a:rPr>
              <a:t>and Hidden Markov Models in Rwanda</a:t>
            </a:r>
          </a:p>
          <a:p>
            <a:pPr algn="l">
              <a:spcAft>
                <a:spcPts val="600"/>
              </a:spcAft>
            </a:pPr>
            <a:r>
              <a:rPr sz="2000" b="0">
                <a:solidFill>
                  <a:srgbClr val="BFD3E6"/>
                </a:solidFill>
                <a:latin typeface="Calibri"/>
              </a:rPr>
              <a:t>Nyabugogo–Nyabarongo corridor, Kigali</a:t>
            </a:r>
          </a:p>
        </p:txBody>
      </p:sp>
      <p:sp>
        <p:nvSpPr>
          <p:cNvPr id="5" name="TextBox 4"/>
          <p:cNvSpPr txBox="1"/>
          <p:nvPr/>
        </p:nvSpPr>
        <p:spPr>
          <a:xfrm>
            <a:off x="822960" y="4297680"/>
            <a:ext cx="10515600" cy="1463040"/>
          </a:xfrm>
          <a:prstGeom prst="rect">
            <a:avLst/>
          </a:prstGeom>
          <a:noFill/>
        </p:spPr>
        <p:txBody>
          <a:bodyPr wrap="square" anchor="t">
            <a:spAutoFit/>
          </a:bodyPr>
          <a:lstStyle/>
          <a:p>
            <a:pPr algn="l">
              <a:spcAft>
                <a:spcPts val="600"/>
              </a:spcAft>
            </a:pPr>
            <a:r>
              <a:rPr sz="1800" b="0">
                <a:solidFill>
                  <a:srgbClr val="F0F4F8"/>
                </a:solidFill>
                <a:latin typeface="Calibri"/>
              </a:rPr>
              <a:t>Progress presentation  ·  ML gap → solution → status → prototype</a:t>
            </a:r>
          </a:p>
          <a:p>
            <a:pPr algn="l">
              <a:spcAft>
                <a:spcPts val="600"/>
              </a:spcAft>
            </a:pPr>
            <a:r>
              <a:rPr sz="1600" b="1">
                <a:solidFill>
                  <a:srgbClr val="FFFFFF"/>
                </a:solidFill>
                <a:latin typeface="Calibri"/>
              </a:rPr>
              <a:t>Kellen Murerwa   |   Supervisor: Emmanuel Adjei</a:t>
            </a:r>
          </a:p>
          <a:p>
            <a:pPr algn="l">
              <a:spcAft>
                <a:spcPts val="600"/>
              </a:spcAft>
            </a:pPr>
            <a:r>
              <a:rPr sz="1400" b="0">
                <a:solidFill>
                  <a:srgbClr val="BFD3E6"/>
                </a:solidFill>
                <a:latin typeface="Calibri"/>
              </a:rPr>
              <a:t>BSc Software Engineering · African Leadership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PROBLEM</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The ML gap we address</a:t>
            </a:r>
          </a:p>
        </p:txBody>
      </p:sp>
      <p:sp>
        <p:nvSpPr>
          <p:cNvPr id="6" name="TextBox 5"/>
          <p:cNvSpPr txBox="1"/>
          <p:nvPr/>
        </p:nvSpPr>
        <p:spPr>
          <a:xfrm>
            <a:off x="457200" y="1371600"/>
            <a:ext cx="11247120" cy="4937760"/>
          </a:xfrm>
          <a:prstGeom prst="rect">
            <a:avLst/>
          </a:prstGeom>
          <a:noFill/>
        </p:spPr>
        <p:txBody>
          <a:bodyPr wrap="square">
            <a:spAutoFit/>
          </a:bodyPr>
          <a:lstStyle/>
          <a:p>
            <a:pPr>
              <a:spcAft>
                <a:spcPts val="800"/>
              </a:spcAft>
            </a:pPr>
            <a:r>
              <a:rPr sz="1800">
                <a:solidFill>
                  <a:srgbClr val="122A4A"/>
                </a:solidFill>
                <a:latin typeface="Calibri"/>
              </a:rPr>
              <a:t>•  Kigali's existing flood-risk tools are STATIC hazard maps — they cover only ~19% of the study corridor and never change with the weather.</a:t>
            </a:r>
          </a:p>
          <a:p>
            <a:pPr lvl="1">
              <a:spcAft>
                <a:spcPts val="800"/>
              </a:spcAft>
            </a:pPr>
            <a:r>
              <a:rPr sz="1600">
                <a:solidFill>
                  <a:srgbClr val="555F6B"/>
                </a:solidFill>
                <a:latin typeface="Calibri"/>
              </a:rPr>
              <a:t>–  They give no time-aware, day-to-day view of where flood pressure is building after heavy rain.</a:t>
            </a:r>
          </a:p>
          <a:p>
            <a:pPr>
              <a:spcAft>
                <a:spcPts val="800"/>
              </a:spcAft>
            </a:pPr>
            <a:r>
              <a:rPr sz="1800">
                <a:solidFill>
                  <a:srgbClr val="122A4A"/>
                </a:solidFill>
                <a:latin typeface="Calibri"/>
              </a:rPr>
              <a:t>•  ML flood-susceptibility studies exist, but in this setting they rarely:</a:t>
            </a:r>
          </a:p>
          <a:p>
            <a:pPr lvl="1">
              <a:spcAft>
                <a:spcPts val="800"/>
              </a:spcAft>
            </a:pPr>
            <a:r>
              <a:rPr sz="1600">
                <a:solidFill>
                  <a:srgbClr val="555F6B"/>
                </a:solidFill>
                <a:latin typeface="Calibri"/>
              </a:rPr>
              <a:t>–  combine supervised geospatial ML with a temporal (sequence) model,</a:t>
            </a:r>
          </a:p>
          <a:p>
            <a:pPr lvl="1">
              <a:spcAft>
                <a:spcPts val="800"/>
              </a:spcAft>
            </a:pPr>
            <a:r>
              <a:rPr sz="1600">
                <a:solidFill>
                  <a:srgbClr val="555F6B"/>
                </a:solidFill>
                <a:latin typeface="Calibri"/>
              </a:rPr>
              <a:t>–  rely only on open / free data for a data-scarce African urban catchment,</a:t>
            </a:r>
          </a:p>
          <a:p>
            <a:pPr lvl="1">
              <a:spcAft>
                <a:spcPts val="800"/>
              </a:spcAft>
            </a:pPr>
            <a:r>
              <a:rPr sz="1600">
                <a:solidFill>
                  <a:srgbClr val="555F6B"/>
                </a:solidFill>
                <a:latin typeface="Calibri"/>
              </a:rPr>
              <a:t>–  or ship a validated, usable artefact — most stop at an accuracy table.</a:t>
            </a:r>
          </a:p>
          <a:p>
            <a:pPr>
              <a:spcAft>
                <a:spcPts val="800"/>
              </a:spcAft>
            </a:pPr>
            <a:r>
              <a:rPr sz="1800">
                <a:solidFill>
                  <a:srgbClr val="DE2D26"/>
                </a:solidFill>
                <a:latin typeface="Calibri"/>
              </a:rPr>
              <a:t>•  → The gap: a reproducible, time-aware ML system from OPEN data that beats static maps and rule baselines — and is validated against the official flood polygons.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THE GAP, VISUALISED</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Static map vs. dynamic prediction</a:t>
            </a:r>
          </a:p>
        </p:txBody>
      </p:sp>
      <p:pic>
        <p:nvPicPr>
          <p:cNvPr id="6" name="Picture 5" descr="static_vs_dynamic.png"/>
          <p:cNvPicPr>
            <a:picLocks noChangeAspect="1"/>
          </p:cNvPicPr>
          <p:nvPr/>
        </p:nvPicPr>
        <p:blipFill>
          <a:blip r:embed="rId2"/>
          <a:stretch>
            <a:fillRect/>
          </a:stretch>
        </p:blipFill>
        <p:spPr>
          <a:xfrm>
            <a:off x="1244991" y="1325880"/>
            <a:ext cx="9671538" cy="4572000"/>
          </a:xfrm>
          <a:prstGeom prst="rect">
            <a:avLst/>
          </a:prstGeom>
        </p:spPr>
      </p:pic>
      <p:sp>
        <p:nvSpPr>
          <p:cNvPr id="7" name="TextBox 6"/>
          <p:cNvSpPr txBox="1"/>
          <p:nvPr/>
        </p:nvSpPr>
        <p:spPr>
          <a:xfrm>
            <a:off x="457200" y="5989320"/>
            <a:ext cx="11247120" cy="548640"/>
          </a:xfrm>
          <a:prstGeom prst="rect">
            <a:avLst/>
          </a:prstGeom>
          <a:noFill/>
        </p:spPr>
        <p:txBody>
          <a:bodyPr wrap="square" anchor="t">
            <a:spAutoFit/>
          </a:bodyPr>
          <a:lstStyle/>
          <a:p>
            <a:pPr algn="ctr">
              <a:spcAft>
                <a:spcPts val="600"/>
              </a:spcAft>
            </a:pPr>
            <a:r>
              <a:rPr sz="1400" b="0">
                <a:solidFill>
                  <a:srgbClr val="555F6B"/>
                </a:solidFill>
                <a:latin typeface="Calibri"/>
              </a:rPr>
              <a:t>Left: the fixed official zone (same every day). Right: on a wet day the model flags a far broader, rainfall-driven footprint — the risk the static map misses.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APPROACH</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Proposed solution</a:t>
            </a:r>
          </a:p>
        </p:txBody>
      </p:sp>
      <p:sp>
        <p:nvSpPr>
          <p:cNvPr id="6" name="TextBox 5"/>
          <p:cNvSpPr txBox="1"/>
          <p:nvPr/>
        </p:nvSpPr>
        <p:spPr>
          <a:xfrm>
            <a:off x="457200" y="1325880"/>
            <a:ext cx="6766560" cy="5120640"/>
          </a:xfrm>
          <a:prstGeom prst="rect">
            <a:avLst/>
          </a:prstGeom>
          <a:noFill/>
        </p:spPr>
        <p:txBody>
          <a:bodyPr wrap="square">
            <a:spAutoFit/>
          </a:bodyPr>
          <a:lstStyle/>
          <a:p>
            <a:pPr>
              <a:spcAft>
                <a:spcPts val="800"/>
              </a:spcAft>
            </a:pPr>
            <a:r>
              <a:rPr sz="1800">
                <a:solidFill>
                  <a:srgbClr val="122A4A"/>
                </a:solidFill>
                <a:latin typeface="Calibri"/>
              </a:rPr>
              <a:t>•  A 250 m grid over the corridor (729 cells), one row per cell-per-day, 2018–2024 (1.86 M cell-days).</a:t>
            </a:r>
          </a:p>
          <a:p>
            <a:pPr>
              <a:spcAft>
                <a:spcPts val="800"/>
              </a:spcAft>
            </a:pPr>
            <a:r>
              <a:rPr sz="1800">
                <a:solidFill>
                  <a:srgbClr val="122A4A"/>
                </a:solidFill>
                <a:latin typeface="Calibri"/>
              </a:rPr>
              <a:t>•  Fuse four open, keyless sources into 10 features:</a:t>
            </a:r>
          </a:p>
          <a:p>
            <a:pPr lvl="1">
              <a:spcAft>
                <a:spcPts val="800"/>
              </a:spcAft>
            </a:pPr>
            <a:r>
              <a:rPr sz="1600">
                <a:solidFill>
                  <a:srgbClr val="555F6B"/>
                </a:solidFill>
                <a:latin typeface="Calibri"/>
              </a:rPr>
              <a:t>–  rainfall accumulations (1/3/7/14-day) — Open-Meteo ERA5,</a:t>
            </a:r>
          </a:p>
          <a:p>
            <a:pPr lvl="1">
              <a:spcAft>
                <a:spcPts val="800"/>
              </a:spcAft>
            </a:pPr>
            <a:r>
              <a:rPr sz="1600">
                <a:solidFill>
                  <a:srgbClr val="555F6B"/>
                </a:solidFill>
                <a:latin typeface="Calibri"/>
              </a:rPr>
              <a:t>–  terrain (elevation, slope) — SRTM; exposure (river, roads, buildings) — OSM,</a:t>
            </a:r>
          </a:p>
          <a:p>
            <a:pPr lvl="1">
              <a:spcAft>
                <a:spcPts val="800"/>
              </a:spcAft>
            </a:pPr>
            <a:r>
              <a:rPr sz="1600">
                <a:solidFill>
                  <a:srgbClr val="555F6B"/>
                </a:solidFill>
                <a:latin typeface="Calibri"/>
              </a:rPr>
              <a:t>–  official flood-zone membership — Rwanda GeoPortal / MOE.</a:t>
            </a:r>
          </a:p>
          <a:p>
            <a:pPr>
              <a:spcAft>
                <a:spcPts val="800"/>
              </a:spcAft>
            </a:pPr>
            <a:r>
              <a:rPr sz="1800">
                <a:solidFill>
                  <a:srgbClr val="122A4A"/>
                </a:solidFill>
                <a:latin typeface="Calibri"/>
              </a:rPr>
              <a:t>•  Predict daily Low / Moderate / High flood-pressure states.</a:t>
            </a:r>
          </a:p>
          <a:p>
            <a:pPr>
              <a:spcAft>
                <a:spcPts val="800"/>
              </a:spcAft>
            </a:pPr>
            <a:r>
              <a:rPr sz="1800">
                <a:solidFill>
                  <a:srgbClr val="122A4A"/>
                </a:solidFill>
                <a:latin typeface="Calibri"/>
              </a:rPr>
              <a:t>•  Benchmark LR/DT, Random Forest, XGBoost vs. rainfall-threshold &amp; static-polygon baselines; add an HMM temporal layer.</a:t>
            </a:r>
          </a:p>
          <a:p>
            <a:pPr>
              <a:spcAft>
                <a:spcPts val="800"/>
              </a:spcAft>
            </a:pPr>
            <a:r>
              <a:rPr sz="1800">
                <a:solidFill>
                  <a:srgbClr val="1F6FB2"/>
                </a:solidFill>
                <a:latin typeface="Calibri"/>
              </a:rPr>
              <a:t>•  Honest test: temporal split — train 2018–22, validate 2023, test on unseen 2024; then spatial validation + a Streamlit dashboard.</a:t>
            </a:r>
          </a:p>
        </p:txBody>
      </p:sp>
      <p:sp>
        <p:nvSpPr>
          <p:cNvPr id="7" name="Rectangle 6"/>
          <p:cNvSpPr/>
          <p:nvPr/>
        </p:nvSpPr>
        <p:spPr>
          <a:xfrm>
            <a:off x="7498079" y="1463040"/>
            <a:ext cx="4206240" cy="448056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xgb_feature_importance.png"/>
          <p:cNvPicPr>
            <a:picLocks noChangeAspect="1"/>
          </p:cNvPicPr>
          <p:nvPr/>
        </p:nvPicPr>
        <p:blipFill>
          <a:blip r:embed="rId2"/>
          <a:stretch>
            <a:fillRect/>
          </a:stretch>
        </p:blipFill>
        <p:spPr>
          <a:xfrm>
            <a:off x="7635240" y="2207623"/>
            <a:ext cx="3931920" cy="2808514"/>
          </a:xfrm>
          <a:prstGeom prst="rect">
            <a:avLst/>
          </a:prstGeom>
        </p:spPr>
      </p:pic>
      <p:sp>
        <p:nvSpPr>
          <p:cNvPr id="9" name="TextBox 8"/>
          <p:cNvSpPr txBox="1"/>
          <p:nvPr/>
        </p:nvSpPr>
        <p:spPr>
          <a:xfrm>
            <a:off x="7635240" y="5623560"/>
            <a:ext cx="3931920" cy="320040"/>
          </a:xfrm>
          <a:prstGeom prst="rect">
            <a:avLst/>
          </a:prstGeom>
          <a:noFill/>
        </p:spPr>
        <p:txBody>
          <a:bodyPr wrap="square" anchor="t">
            <a:spAutoFit/>
          </a:bodyPr>
          <a:lstStyle/>
          <a:p>
            <a:pPr algn="ctr">
              <a:spcAft>
                <a:spcPts val="600"/>
              </a:spcAft>
            </a:pPr>
            <a:r>
              <a:rPr sz="1100" b="0">
                <a:solidFill>
                  <a:srgbClr val="555F6B"/>
                </a:solidFill>
                <a:latin typeface="Calibri"/>
              </a:rPr>
              <a:t>Engineered features ranked by importance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WHERE WE ARE</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Current status</a:t>
            </a:r>
          </a:p>
        </p:txBody>
      </p:sp>
      <p:sp>
        <p:nvSpPr>
          <p:cNvPr id="6" name="TextBox 5"/>
          <p:cNvSpPr txBox="1"/>
          <p:nvPr/>
        </p:nvSpPr>
        <p:spPr>
          <a:xfrm>
            <a:off x="457200" y="1371600"/>
            <a:ext cx="11247120" cy="5029200"/>
          </a:xfrm>
          <a:prstGeom prst="rect">
            <a:avLst/>
          </a:prstGeom>
          <a:noFill/>
        </p:spPr>
        <p:txBody>
          <a:bodyPr wrap="square">
            <a:spAutoFit/>
          </a:bodyPr>
          <a:lstStyle/>
          <a:p>
            <a:pPr>
              <a:spcAft>
                <a:spcPts val="800"/>
              </a:spcAft>
            </a:pPr>
            <a:r>
              <a:rPr sz="1800">
                <a:solidFill>
                  <a:srgbClr val="2CA25F"/>
                </a:solidFill>
                <a:latin typeface="Calibri"/>
              </a:rPr>
              <a:t>•  Data pipeline COMPLETE — 1.86 M real cell-days, fully reproducible (cached, offline-friendly).</a:t>
            </a:r>
          </a:p>
          <a:p>
            <a:pPr>
              <a:spcAft>
                <a:spcPts val="800"/>
              </a:spcAft>
            </a:pPr>
            <a:r>
              <a:rPr sz="1800">
                <a:solidFill>
                  <a:srgbClr val="2CA25F"/>
                </a:solidFill>
                <a:latin typeface="Calibri"/>
              </a:rPr>
              <a:t>•  Models trained &amp; benchmarked on the 2024 test hold-out — targets MET.</a:t>
            </a:r>
          </a:p>
          <a:p>
            <a:pPr>
              <a:spcAft>
                <a:spcPts val="800"/>
              </a:spcAft>
            </a:pPr>
            <a:r>
              <a:rPr sz="1800">
                <a:solidFill>
                  <a:srgbClr val="122A4A"/>
                </a:solidFill>
                <a:latin typeface="Calibri"/>
              </a:rPr>
              <a:t>•  XGBoost (deployed) macro-F1 0.813 / High-recall 0.843;  Random Forest 0.813 / 0.849.</a:t>
            </a:r>
          </a:p>
          <a:p>
            <a:pPr>
              <a:spcAft>
                <a:spcPts val="800"/>
              </a:spcAft>
            </a:pPr>
            <a:r>
              <a:rPr sz="1800">
                <a:solidFill>
                  <a:srgbClr val="122A4A"/>
                </a:solidFill>
                <a:latin typeface="Calibri"/>
              </a:rPr>
              <a:t>•  Train ≈ val ≈ test macro-F1 — no over-fitting. Beats baselines: +0.19 F1 over rainfall, +0.49 over static map.</a:t>
            </a:r>
          </a:p>
          <a:p>
            <a:pPr>
              <a:spcAft>
                <a:spcPts val="800"/>
              </a:spcAft>
            </a:pPr>
            <a:r>
              <a:rPr sz="1800">
                <a:solidFill>
                  <a:srgbClr val="2CA25F"/>
                </a:solidFill>
                <a:latin typeface="Calibri"/>
              </a:rPr>
              <a:t>•  Spatial validation DONE — enrichment 1.60× (≥1.4 ✅), inside/outside odds 1.85× (≥1.5 ✅).</a:t>
            </a:r>
          </a:p>
          <a:p>
            <a:pPr>
              <a:spcAft>
                <a:spcPts val="800"/>
              </a:spcAft>
            </a:pPr>
            <a:r>
              <a:rPr sz="1800">
                <a:solidFill>
                  <a:srgbClr val="122A4A"/>
                </a:solidFill>
                <a:latin typeface="Calibri"/>
              </a:rPr>
              <a:t>•  HMM temporal layer integrated (descriptive; supervised layer is the predictor).</a:t>
            </a:r>
          </a:p>
          <a:p>
            <a:pPr>
              <a:spcAft>
                <a:spcPts val="800"/>
              </a:spcAft>
            </a:pPr>
            <a:r>
              <a:rPr sz="1800">
                <a:solidFill>
                  <a:srgbClr val="2CA25F"/>
                </a:solidFill>
                <a:latin typeface="Calibri"/>
              </a:rPr>
              <a:t>•  Working dashboard + 10/10 automated tests; live-query latency p95 ≈ 9.6 ms (budget 2 s).</a:t>
            </a:r>
          </a:p>
          <a:p>
            <a:pPr>
              <a:spcAft>
                <a:spcPts val="800"/>
              </a:spcAft>
            </a:pPr>
            <a:r>
              <a:rPr sz="1800">
                <a:solidFill>
                  <a:srgbClr val="2CA25F"/>
                </a:solidFill>
                <a:latin typeface="Calibri"/>
              </a:rPr>
              <a:t>•  Clean GitHub repo + deployment artifacts (Docker / Streamlit Cloud / Render) ready.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DEMO</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Working prototype — the dashboard</a:t>
            </a:r>
          </a:p>
        </p:txBody>
      </p:sp>
      <p:pic>
        <p:nvPicPr>
          <p:cNvPr id="6" name="Picture 5" descr="dashboard_preview.png"/>
          <p:cNvPicPr>
            <a:picLocks noChangeAspect="1"/>
          </p:cNvPicPr>
          <p:nvPr/>
        </p:nvPicPr>
        <p:blipFill>
          <a:blip r:embed="rId2"/>
          <a:stretch>
            <a:fillRect/>
          </a:stretch>
        </p:blipFill>
        <p:spPr>
          <a:xfrm>
            <a:off x="457200" y="1828800"/>
            <a:ext cx="7863840" cy="3931920"/>
          </a:xfrm>
          <a:prstGeom prst="rect">
            <a:avLst/>
          </a:prstGeom>
        </p:spPr>
      </p:pic>
      <p:sp>
        <p:nvSpPr>
          <p:cNvPr id="7" name="TextBox 6"/>
          <p:cNvSpPr txBox="1"/>
          <p:nvPr/>
        </p:nvSpPr>
        <p:spPr>
          <a:xfrm>
            <a:off x="457200" y="6263640"/>
            <a:ext cx="7863840" cy="320040"/>
          </a:xfrm>
          <a:prstGeom prst="rect">
            <a:avLst/>
          </a:prstGeom>
          <a:noFill/>
        </p:spPr>
        <p:txBody>
          <a:bodyPr wrap="square" anchor="t">
            <a:spAutoFit/>
          </a:bodyPr>
          <a:lstStyle/>
          <a:p>
            <a:pPr algn="ctr">
              <a:spcAft>
                <a:spcPts val="600"/>
              </a:spcAft>
            </a:pPr>
            <a:r>
              <a:rPr sz="1100" b="0">
                <a:solidFill>
                  <a:srgbClr val="555F6B"/>
                </a:solidFill>
                <a:latin typeface="Calibri"/>
              </a:rPr>
              <a:t>Pick a date → predicted flood-pressure map, metrics, per-cell inspector</a:t>
            </a:r>
          </a:p>
        </p:txBody>
      </p:sp>
      <p:sp>
        <p:nvSpPr>
          <p:cNvPr id="8" name="TextBox 7"/>
          <p:cNvSpPr txBox="1"/>
          <p:nvPr/>
        </p:nvSpPr>
        <p:spPr>
          <a:xfrm>
            <a:off x="8503920" y="1463040"/>
            <a:ext cx="3383280" cy="4937760"/>
          </a:xfrm>
          <a:prstGeom prst="rect">
            <a:avLst/>
          </a:prstGeom>
          <a:noFill/>
        </p:spPr>
        <p:txBody>
          <a:bodyPr wrap="square">
            <a:spAutoFit/>
          </a:bodyPr>
          <a:lstStyle/>
          <a:p>
            <a:pPr>
              <a:spcAft>
                <a:spcPts val="800"/>
              </a:spcAft>
            </a:pPr>
            <a:r>
              <a:rPr sz="1500">
                <a:solidFill>
                  <a:srgbClr val="122A4A"/>
                </a:solidFill>
                <a:latin typeface="Calibri"/>
              </a:rPr>
              <a:t>•  Streamlit app</a:t>
            </a:r>
          </a:p>
          <a:p>
            <a:pPr lvl="1">
              <a:spcAft>
                <a:spcPts val="800"/>
              </a:spcAft>
            </a:pPr>
            <a:r>
              <a:rPr sz="1300">
                <a:solidFill>
                  <a:srgbClr val="555F6B"/>
                </a:solidFill>
                <a:latin typeface="Calibri"/>
              </a:rPr>
              <a:t>–  Any date → Low/Mod/High map over 729 cells</a:t>
            </a:r>
          </a:p>
          <a:p>
            <a:pPr lvl="1">
              <a:spcAft>
                <a:spcPts val="800"/>
              </a:spcAft>
            </a:pPr>
            <a:r>
              <a:rPr sz="1300">
                <a:solidFill>
                  <a:srgbClr val="555F6B"/>
                </a:solidFill>
                <a:latin typeface="Calibri"/>
              </a:rPr>
              <a:t>–  Toggle official flood polygons</a:t>
            </a:r>
          </a:p>
          <a:p>
            <a:pPr lvl="1">
              <a:spcAft>
                <a:spcPts val="800"/>
              </a:spcAft>
            </a:pPr>
            <a:r>
              <a:rPr sz="1300">
                <a:solidFill>
                  <a:srgbClr val="555F6B"/>
                </a:solidFill>
                <a:latin typeface="Calibri"/>
              </a:rPr>
              <a:t>–  Inspect a cell: features + class probabilities</a:t>
            </a:r>
          </a:p>
          <a:p>
            <a:pPr lvl="1">
              <a:spcAft>
                <a:spcPts val="800"/>
              </a:spcAft>
            </a:pPr>
            <a:r>
              <a:rPr sz="1300">
                <a:solidFill>
                  <a:srgbClr val="555F6B"/>
                </a:solidFill>
                <a:latin typeface="Calibri"/>
              </a:rPr>
              <a:t>–  Per-cell Markov transition matrix</a:t>
            </a:r>
          </a:p>
          <a:p>
            <a:pPr lvl="1">
              <a:spcAft>
                <a:spcPts val="800"/>
              </a:spcAft>
            </a:pPr>
            <a:r>
              <a:rPr sz="1300">
                <a:solidFill>
                  <a:srgbClr val="555F6B"/>
                </a:solidFill>
                <a:latin typeface="Calibri"/>
              </a:rPr>
              <a:t>–  Rainfall series, train/val/test &amp; HMM panels</a:t>
            </a:r>
          </a:p>
          <a:p>
            <a:pPr>
              <a:spcAft>
                <a:spcPts val="800"/>
              </a:spcAft>
            </a:pPr>
            <a:r>
              <a:rPr sz="1500">
                <a:solidFill>
                  <a:srgbClr val="2CA25F"/>
                </a:solidFill>
                <a:latin typeface="Calibri"/>
              </a:rPr>
              <a:t>•  Boots headless, serves HTTP 200</a:t>
            </a:r>
          </a:p>
          <a:p>
            <a:pPr>
              <a:spcAft>
                <a:spcPts val="800"/>
              </a:spcAft>
            </a:pPr>
            <a:r>
              <a:rPr sz="1500">
                <a:solidFill>
                  <a:srgbClr val="2CA25F"/>
                </a:solidFill>
                <a:latin typeface="Calibri"/>
              </a:rPr>
              <a:t>•  p95 ≈ 9.6 ms / query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EVIDENCE</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Working prototype — it works on real &amp; varied data</a:t>
            </a:r>
          </a:p>
        </p:txBody>
      </p:sp>
      <p:pic>
        <p:nvPicPr>
          <p:cNvPr id="6" name="Picture 5" descr="confusion_XGBoost.png"/>
          <p:cNvPicPr>
            <a:picLocks noChangeAspect="1"/>
          </p:cNvPicPr>
          <p:nvPr/>
        </p:nvPicPr>
        <p:blipFill>
          <a:blip r:embed="rId2"/>
          <a:stretch>
            <a:fillRect/>
          </a:stretch>
        </p:blipFill>
        <p:spPr>
          <a:xfrm>
            <a:off x="365760" y="1808480"/>
            <a:ext cx="3749039" cy="3332479"/>
          </a:xfrm>
          <a:prstGeom prst="rect">
            <a:avLst/>
          </a:prstGeom>
        </p:spPr>
      </p:pic>
      <p:sp>
        <p:nvSpPr>
          <p:cNvPr id="7" name="TextBox 6"/>
          <p:cNvSpPr txBox="1"/>
          <p:nvPr/>
        </p:nvSpPr>
        <p:spPr>
          <a:xfrm>
            <a:off x="365760" y="5577840"/>
            <a:ext cx="3749039" cy="320040"/>
          </a:xfrm>
          <a:prstGeom prst="rect">
            <a:avLst/>
          </a:prstGeom>
          <a:noFill/>
        </p:spPr>
        <p:txBody>
          <a:bodyPr wrap="square" anchor="t">
            <a:spAutoFit/>
          </a:bodyPr>
          <a:lstStyle/>
          <a:p>
            <a:pPr algn="ctr">
              <a:spcAft>
                <a:spcPts val="600"/>
              </a:spcAft>
            </a:pPr>
            <a:r>
              <a:rPr sz="1100" b="0">
                <a:solidFill>
                  <a:srgbClr val="555F6B"/>
                </a:solidFill>
                <a:latin typeface="Calibri"/>
              </a:rPr>
              <a:t>XGBoost confusion (2024 hold-out)</a:t>
            </a:r>
          </a:p>
        </p:txBody>
      </p:sp>
      <p:pic>
        <p:nvPicPr>
          <p:cNvPr id="8" name="Picture 7" descr="demo_data_values.png"/>
          <p:cNvPicPr>
            <a:picLocks noChangeAspect="1"/>
          </p:cNvPicPr>
          <p:nvPr/>
        </p:nvPicPr>
        <p:blipFill>
          <a:blip r:embed="rId3"/>
          <a:stretch>
            <a:fillRect/>
          </a:stretch>
        </p:blipFill>
        <p:spPr>
          <a:xfrm>
            <a:off x="4206240" y="2446020"/>
            <a:ext cx="4114800" cy="2057400"/>
          </a:xfrm>
          <a:prstGeom prst="rect">
            <a:avLst/>
          </a:prstGeom>
        </p:spPr>
      </p:pic>
      <p:sp>
        <p:nvSpPr>
          <p:cNvPr id="9" name="TextBox 8"/>
          <p:cNvSpPr txBox="1"/>
          <p:nvPr/>
        </p:nvSpPr>
        <p:spPr>
          <a:xfrm>
            <a:off x="4206240" y="5577840"/>
            <a:ext cx="4114800" cy="320040"/>
          </a:xfrm>
          <a:prstGeom prst="rect">
            <a:avLst/>
          </a:prstGeom>
          <a:noFill/>
        </p:spPr>
        <p:txBody>
          <a:bodyPr wrap="square" anchor="t">
            <a:spAutoFit/>
          </a:bodyPr>
          <a:lstStyle/>
          <a:p>
            <a:pPr algn="ctr">
              <a:spcAft>
                <a:spcPts val="600"/>
              </a:spcAft>
            </a:pPr>
            <a:r>
              <a:rPr sz="1100" b="0">
                <a:solidFill>
                  <a:srgbClr val="555F6B"/>
                </a:solidFill>
                <a:latin typeface="Calibri"/>
              </a:rPr>
              <a:t>Prediction responds to different data values</a:t>
            </a:r>
          </a:p>
        </p:txBody>
      </p:sp>
      <p:pic>
        <p:nvPicPr>
          <p:cNvPr id="10" name="Picture 9" descr="benchmark_performance.png"/>
          <p:cNvPicPr>
            <a:picLocks noChangeAspect="1"/>
          </p:cNvPicPr>
          <p:nvPr/>
        </p:nvPicPr>
        <p:blipFill>
          <a:blip r:embed="rId4"/>
          <a:stretch>
            <a:fillRect/>
          </a:stretch>
        </p:blipFill>
        <p:spPr>
          <a:xfrm>
            <a:off x="8412480" y="2731770"/>
            <a:ext cx="3566160" cy="1485900"/>
          </a:xfrm>
          <a:prstGeom prst="rect">
            <a:avLst/>
          </a:prstGeom>
        </p:spPr>
      </p:pic>
      <p:sp>
        <p:nvSpPr>
          <p:cNvPr id="11" name="TextBox 10"/>
          <p:cNvSpPr txBox="1"/>
          <p:nvPr/>
        </p:nvSpPr>
        <p:spPr>
          <a:xfrm>
            <a:off x="8412480" y="5577840"/>
            <a:ext cx="3566160" cy="320040"/>
          </a:xfrm>
          <a:prstGeom prst="rect">
            <a:avLst/>
          </a:prstGeom>
          <a:noFill/>
        </p:spPr>
        <p:txBody>
          <a:bodyPr wrap="square" anchor="t">
            <a:spAutoFit/>
          </a:bodyPr>
          <a:lstStyle/>
          <a:p>
            <a:pPr algn="ctr">
              <a:spcAft>
                <a:spcPts val="600"/>
              </a:spcAft>
            </a:pPr>
            <a:r>
              <a:rPr sz="1100" b="0">
                <a:solidFill>
                  <a:srgbClr val="555F6B"/>
                </a:solidFill>
                <a:latin typeface="Calibri"/>
              </a:rPr>
              <a:t>Latency well inside the 2 s budget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DE2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411480"/>
          </a:xfrm>
          <a:prstGeom prst="rect">
            <a:avLst/>
          </a:prstGeom>
          <a:noFill/>
        </p:spPr>
        <p:txBody>
          <a:bodyPr wrap="square" anchor="t">
            <a:spAutoFit/>
          </a:bodyPr>
          <a:lstStyle/>
          <a:p>
            <a:pPr algn="l">
              <a:spcAft>
                <a:spcPts val="600"/>
              </a:spcAft>
            </a:pPr>
            <a:r>
              <a:rPr sz="1300" b="1">
                <a:solidFill>
                  <a:srgbClr val="BFD3E6"/>
                </a:solidFill>
                <a:latin typeface="Calibri"/>
              </a:rPr>
              <a:t>WRAP-UP</a:t>
            </a:r>
          </a:p>
        </p:txBody>
      </p:sp>
      <p:sp>
        <p:nvSpPr>
          <p:cNvPr id="5" name="TextBox 4"/>
          <p:cNvSpPr txBox="1"/>
          <p:nvPr/>
        </p:nvSpPr>
        <p:spPr>
          <a:xfrm>
            <a:off x="457200" y="411480"/>
            <a:ext cx="11247120" cy="594360"/>
          </a:xfrm>
          <a:prstGeom prst="rect">
            <a:avLst/>
          </a:prstGeom>
          <a:noFill/>
        </p:spPr>
        <p:txBody>
          <a:bodyPr wrap="square" anchor="t">
            <a:spAutoFit/>
          </a:bodyPr>
          <a:lstStyle/>
          <a:p>
            <a:pPr algn="l">
              <a:spcAft>
                <a:spcPts val="600"/>
              </a:spcAft>
            </a:pPr>
            <a:r>
              <a:rPr sz="2800" b="1">
                <a:solidFill>
                  <a:srgbClr val="FFFFFF"/>
                </a:solidFill>
                <a:latin typeface="Calibri"/>
              </a:rPr>
              <a:t>Summary &amp; next steps</a:t>
            </a:r>
          </a:p>
        </p:txBody>
      </p:sp>
      <p:sp>
        <p:nvSpPr>
          <p:cNvPr id="6" name="TextBox 5"/>
          <p:cNvSpPr txBox="1"/>
          <p:nvPr/>
        </p:nvSpPr>
        <p:spPr>
          <a:xfrm>
            <a:off x="457200" y="1371600"/>
            <a:ext cx="11247120" cy="2743200"/>
          </a:xfrm>
          <a:prstGeom prst="rect">
            <a:avLst/>
          </a:prstGeom>
          <a:noFill/>
        </p:spPr>
        <p:txBody>
          <a:bodyPr wrap="square">
            <a:spAutoFit/>
          </a:bodyPr>
          <a:lstStyle/>
          <a:p>
            <a:pPr>
              <a:spcAft>
                <a:spcPts val="800"/>
              </a:spcAft>
            </a:pPr>
            <a:r>
              <a:rPr sz="1900">
                <a:solidFill>
                  <a:srgbClr val="122A4A"/>
                </a:solidFill>
                <a:latin typeface="Calibri"/>
              </a:rPr>
              <a:t>•  Thesis demonstrated: open climate + geospatial data + ensemble ML give a time-aware flood-pressure view that beats static maps and rule baselines.</a:t>
            </a:r>
          </a:p>
          <a:p>
            <a:pPr>
              <a:spcAft>
                <a:spcPts val="800"/>
              </a:spcAft>
            </a:pPr>
            <a:r>
              <a:rPr sz="1900">
                <a:solidFill>
                  <a:srgbClr val="122A4A"/>
                </a:solidFill>
                <a:latin typeface="Calibri"/>
              </a:rPr>
              <a:t>•  End-to-end and reproducible: data → models → validation → live dashboard.</a:t>
            </a:r>
          </a:p>
        </p:txBody>
      </p:sp>
      <p:sp>
        <p:nvSpPr>
          <p:cNvPr id="7" name="TextBox 6"/>
          <p:cNvSpPr txBox="1"/>
          <p:nvPr/>
        </p:nvSpPr>
        <p:spPr>
          <a:xfrm>
            <a:off x="457200" y="4023360"/>
            <a:ext cx="11247120" cy="457200"/>
          </a:xfrm>
          <a:prstGeom prst="rect">
            <a:avLst/>
          </a:prstGeom>
          <a:noFill/>
        </p:spPr>
        <p:txBody>
          <a:bodyPr wrap="square" anchor="t">
            <a:spAutoFit/>
          </a:bodyPr>
          <a:lstStyle/>
          <a:p>
            <a:pPr algn="l">
              <a:spcAft>
                <a:spcPts val="600"/>
              </a:spcAft>
            </a:pPr>
            <a:r>
              <a:rPr sz="2000" b="1">
                <a:solidFill>
                  <a:srgbClr val="DE2D26"/>
                </a:solidFill>
                <a:latin typeface="Calibri"/>
              </a:rPr>
              <a:t>Next steps</a:t>
            </a:r>
          </a:p>
        </p:txBody>
      </p:sp>
      <p:sp>
        <p:nvSpPr>
          <p:cNvPr id="8" name="TextBox 7"/>
          <p:cNvSpPr txBox="1"/>
          <p:nvPr/>
        </p:nvSpPr>
        <p:spPr>
          <a:xfrm>
            <a:off x="457200" y="4526280"/>
            <a:ext cx="11247120" cy="2011680"/>
          </a:xfrm>
          <a:prstGeom prst="rect">
            <a:avLst/>
          </a:prstGeom>
          <a:noFill/>
        </p:spPr>
        <p:txBody>
          <a:bodyPr wrap="square">
            <a:spAutoFit/>
          </a:bodyPr>
          <a:lstStyle/>
          <a:p>
            <a:pPr>
              <a:spcAft>
                <a:spcPts val="800"/>
              </a:spcAft>
            </a:pPr>
            <a:r>
              <a:rPr sz="1700">
                <a:solidFill>
                  <a:srgbClr val="555F6B"/>
                </a:solidFill>
                <a:latin typeface="Calibri"/>
              </a:rPr>
              <a:t>•  Ground-truth against real flood-incident records (biggest validity gain).</a:t>
            </a:r>
          </a:p>
          <a:p>
            <a:pPr>
              <a:spcAft>
                <a:spcPts val="800"/>
              </a:spcAft>
            </a:pPr>
            <a:r>
              <a:rPr sz="1700">
                <a:solidFill>
                  <a:srgbClr val="555F6B"/>
                </a:solidFill>
                <a:latin typeface="Calibri"/>
              </a:rPr>
              <a:t>•  Calibrate probabilities → a meaningful Moderate band; feed forecast rainfall for a 1–7 day outlook.</a:t>
            </a:r>
          </a:p>
          <a:p>
            <a:pPr>
              <a:spcAft>
                <a:spcPts val="800"/>
              </a:spcAft>
            </a:pPr>
            <a:r>
              <a:rPr sz="1700">
                <a:solidFill>
                  <a:srgbClr val="555F6B"/>
                </a:solidFill>
                <a:latin typeface="Calibri"/>
              </a:rPr>
              <a:t>•  Operationalise: scheduled refresh, drift monitoring, alert push; finalise hosting.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