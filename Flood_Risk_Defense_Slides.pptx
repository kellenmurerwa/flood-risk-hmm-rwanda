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3A5E"/>
                </a:solidFill>
              </a:rPr>
              <a:t>Geospatial Flood-Risk Modelling using Climate Data and Hidden Markov Models in Rwanda</a:t>
            </a:r>
          </a:p>
          <a:p>
            <a:r>
              <a:rPr sz="1800">
                <a:solidFill>
                  <a:srgbClr val="444444"/>
                </a:solidFill>
              </a:rPr>
              <a:t>Capstone Defense  •  Nyabugogo–Nyabarongo corridor, Kigali</a:t>
            </a:r>
          </a:p>
          <a:p>
            <a:r>
              <a:rPr sz="1600">
                <a:solidFill>
                  <a:srgbClr val="444444"/>
                </a:solidFill>
              </a:rPr>
              <a:t>Kellen Murerwa   |   Supervisor: Emmanuel Adjei</a:t>
            </a:r>
          </a:p>
          <a:p>
            <a:r>
              <a:rPr sz="1400">
                <a:solidFill>
                  <a:srgbClr val="444444"/>
                </a:solidFill>
              </a:rPr>
              <a:t>BSc Software Engineering — African Leadership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Kigali's catchments flood repeatedly after intense rain; official hazard maps are static.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They show WHERE flooding is possible — not WHEN or HOW WIDELY pressure rises after rainfall.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Objective: a geospatial ML + Hidden Markov Model framework that estimates daily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Low / Moderate / High flood-pressure states and validates them against official polygons.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Scope: decision-support / risk-screening — complements, not replaces, early warning.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Study Area &amp; Grid</a:t>
            </a:r>
          </a:p>
          <a:p>
            <a:r>
              <a:rPr sz="1400">
                <a:solidFill>
                  <a:srgbClr val="444444"/>
                </a:solidFill>
              </a:rPr>
              <a:t>Nyabugogo–Nyabarongo corridor aligned to the official flood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AOI: lon 29.98–30.04, lat −2.03–−1.97 (Kigali).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250 m grid → 729 cells.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Daily, 2018–2024 → 1,864,053 cell-day records.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Train 2018–2023 · test on unseen 2024.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AOI deliberately shifted south onto the real MOE flood zone (centroid ≈ 30.054, −1.994).</a:t>
            </a:r>
          </a:p>
        </p:txBody>
      </p:sp>
      <p:pic>
        <p:nvPicPr>
          <p:cNvPr id="4" name="Picture 3" descr="flood_pressure_ris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System Architecture — four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1. DATA — real, free, keyless feeds per cell-day.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2. LABELS — flood-pressure = rainfall trigger × terrain susceptibility (+ unobserved noise).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3. MODELS — baselines → RF / XGBoost → HMM temporal layer.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4. VALIDATION &amp; DELIVERY — vs official polygons + Streamlit dashboard.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Each layer is a separate, reproducible module run by main.py.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Real Data Sources — retrieved live, not assumed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Rainfall (1/3/7/14-day): Open-Meteo ERA5 archive.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Elevation + slope: Open-Meteo SRTM.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Rivers, roads, buildings: OpenStreetMap (Overpass).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Official flood polygons: Rwanda GeoPortal / geodata.rw (Ministry of Environment).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EVIDENCE — live ERA5 pull, AOI centroid, Jan 2024: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total 131.2 mm over 31 days; e.g. 09 Jan = 12.7 mm, 10 Jan = 4.2 mm.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Official layer: 136 / 729 cells (19%) flagged flood-prone.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Features &amp; Labels — why it is not circular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10 predictors: 4 rainfall windows + elevation, slope, distance-to-river, road &amp; building density, official-polygon flag.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Label = top-20% / next-30% / lowest-50% of a rainfall×susceptibility score.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Added an UNOBSERVED drainage latent + daily noise the model cannot see.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Without it, models hit 0.99 F1 — a circular, indefensible result.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With it, F1 ≈ 0.83 — realistic and honest.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Flood-PRESSURE = derived risk state, NOT a confirmed flood event.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Models &amp; 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Baselines: rainfall-threshold &amp; static-polygon (prove ML adds value).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Interpretable: Logistic Regression, Decision Tree.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Main: Random Forest, XGBoost (+ SHAP explainability).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Temporal layer: Gaussian HMM over daily sequences.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Strict temporal hold-out: train 2018–23, test on unseen 2024.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Metrics: macro-F1, High-recall, confusion, next-step accuracy, spatial concordance.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Results — 2024 hold-out</a:t>
            </a:r>
          </a:p>
          <a:p>
            <a:r>
              <a:rPr sz="1400">
                <a:solidFill>
                  <a:srgbClr val="444444"/>
                </a:solidFill>
              </a:rPr>
              <a:t>Targets: macro-F1 ≥ 0.75, High-recall ≥ 0.80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6583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</a:tblGrid>
              <a:tr h="57476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2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123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High-recall</a:t>
                      </a:r>
                    </a:p>
                  </a:txBody>
                  <a:tcPr>
                    <a:solidFill>
                      <a:srgbClr val="123A5E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400"/>
                        <a:t>Random Forest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0.831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0.867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400"/>
                        <a:t>XGBoost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0.813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0.847</a:t>
                      </a:r>
                    </a:p>
                  </a:txBody>
                  <a:tcPr>
                    <a:solidFill>
                      <a:srgbClr val="E5F0E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40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0.793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4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0.821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400"/>
                        <a:t>Rainfall-threshold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400"/>
                        <a:t>Static-polygon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confusion_Random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737360"/>
            <a:ext cx="4023360" cy="357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Explainability — SHAP &amp;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Rainfall accumulation (3- &amp; 7-day) dominates predicted pressure.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Then elevation &amp; distance-to-river (low + near water = vulnerable).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Hydrologically sensible and auditable (satisfies NFR-04).</a:t>
            </a:r>
          </a:p>
        </p:txBody>
      </p:sp>
      <p:pic>
        <p:nvPicPr>
          <p:cNvPr id="4" name="Picture 3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577840" cy="38072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HMM — temporal dynamics of flood 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Self-transition probabilities ≈ 0.83 / 0.80 / 0.91 (Low/Mod/High).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Pressure PERSISTS once it sets in after sustained rain.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Transitions move between neighbouring states, not Low→High jumps.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Next-step accuracy 0.45 over 3 states (random = 0.33).</a:t>
            </a:r>
          </a:p>
        </p:txBody>
      </p:sp>
      <p:pic>
        <p:nvPicPr>
          <p:cNvPr id="4" name="Picture 3" descr="hmm_transi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9377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Spatial Validation vs Official Polygons — the honest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Official zone covers only 19% of the corridor → a fixed ‘70% inside’ target is geometrically impossible without circular labels.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Reformulated to enrichment &amp; odds ratio: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Raw containment of predicted-High in official zone: 0.30.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Enrichment / lift: 1.59× over the 18.7% base rate.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44444"/>
                </a:solidFill>
              </a:rPr>
              <a:t>– Inside-vs-outside High odds: 1.84× (30.7% vs 16.7%).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Model re-discovers the official zone WITHOUT training on it, and flags a broader dynamic footprint — the project's core contribution.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Delivery — Streamlit Inspection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Pick any date → predicted flood-pressure map over the grid.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Overlay official flood polygons.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Inspect any cell: predictors, class probabilities, rainfall time series.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Model &amp; HMM performance panels built in.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Run: python main.py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Rainfall source: ERA5 vs CHIRPS vs Meteo Rwanda</a:t>
            </a:r>
          </a:p>
          <a:p>
            <a:r>
              <a:rPr sz="1400">
                <a:solidFill>
                  <a:srgbClr val="444444"/>
                </a:solidFill>
              </a:rPr>
              <a:t>What is feasible — tested, not assumed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ERA5 (Open-Meteo) — USED. Keyless REST, 1940–now, fully reproducible; verified live (131.2 mm, Jan-2024 AOI). Reanalysis, ~9–25 km.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CHIRPS — scientifically ideal for Africa (0.05°, satellite+stations). BUT access is heavy: IRI Data Library &amp; ClimateSERV both failed/timed out in testing; needs GeoTIFF/GEE tooling.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Meteo Rwanda / ENACTS — most authoritative (national gauges) but access is restricted/registration-gated; no open API.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Recommendation: ERA5 as primary (reproducible now); CHIRPS as a documented validation extension; Meteo Rwanda via formal data request.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Labels are derived flood-pressure, not confirmed events (no open incident feed).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ERA5 is coarser than a dense gauge network.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Official national polygons are low-resolution.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Future: MINEMA incident validation; CHIRPS/Meteo Rwanda blend; TWI &amp; HAND features; Optuna tuning; operational daily dashboard.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All five objectives met on REAL, open data with a strict temporal hold-out.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RF macro-F1 0.831, High-recall 0.867; baselines clearly beaten.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Model independently reinforces (1.59×) and extends the official flood map.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A reproducible, interpretable, time-aware flood-pressure tool for Kigali.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A5E"/>
                </a:solidFill>
              </a:rPr>
              <a:t>Anticipated Panel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“Is your label circular?” → No — unobserved drainage latent + noise; F1 0.83 not 0.99.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“Why ERA5 not CHIRPS?” → Reproducible keyless access; CHIRPS tested but fragile (future work).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“Why did spatial agreement miss 70%?” → Coarse 19% official layer; reframed to enrichment 1.59×.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“Pressure vs event?” → Derived risk state; event validation needs MINEMA records.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“Does it generalise?” → Tested on a future unseen year (2024), not random split.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